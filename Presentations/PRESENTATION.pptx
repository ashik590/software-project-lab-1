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DM Sans Bold" charset="1" panose="00000000000000000000"/>
      <p:regular r:id="rId35"/>
    </p:embeddedFont>
    <p:embeddedFont>
      <p:font typeface="Monda" charset="1" panose="02000503000000000000"/>
      <p:regular r:id="rId36"/>
    </p:embeddedFont>
    <p:embeddedFont>
      <p:font typeface="Monda Bold" charset="1" panose="02000803000000000000"/>
      <p:regular r:id="rId37"/>
    </p:embeddedFont>
    <p:embeddedFont>
      <p:font typeface="Archivo Narrow" charset="1" panose="020B0506020202020B04"/>
      <p:regular r:id="rId38"/>
    </p:embeddedFont>
    <p:embeddedFont>
      <p:font typeface="Archivo Narrow Bold" charset="1" panose="020B0806020202020B04"/>
      <p:regular r:id="rId39"/>
    </p:embeddedFont>
    <p:embeddedFont>
      <p:font typeface="Lora" charset="1" panose="00000500000000000000"/>
      <p:regular r:id="rId40"/>
    </p:embeddedFont>
    <p:embeddedFont>
      <p:font typeface="Times New Roman MT Bold" charset="1" panose="02030802070405020303"/>
      <p:regular r:id="rId41"/>
    </p:embeddedFont>
    <p:embeddedFont>
      <p:font typeface="Times New Roman MT" charset="1" panose="02030502070405020303"/>
      <p:regular r:id="rId42"/>
    </p:embeddedFont>
    <p:embeddedFont>
      <p:font typeface="Gagalin" charset="1" panose="00000500000000000000"/>
      <p:regular r:id="rId43"/>
    </p:embeddedFont>
    <p:embeddedFont>
      <p:font typeface="Open Sauce" charset="1" panose="00000500000000000000"/>
      <p:regular r:id="rId44"/>
    </p:embeddedFont>
    <p:embeddedFont>
      <p:font typeface="Canva Sans" charset="1" panose="020B0503030501040103"/>
      <p:regular r:id="rId45"/>
    </p:embeddedFont>
    <p:embeddedFont>
      <p:font typeface="Fredoka" charset="1" panose="02000000000000000000"/>
      <p:regular r:id="rId46"/>
    </p:embeddedFont>
    <p:embeddedFont>
      <p:font typeface="Telegraf" charset="1" panose="00000500000000000000"/>
      <p:regular r:id="rId47"/>
    </p:embeddedFont>
    <p:embeddedFont>
      <p:font typeface="Fira Code Bold" charset="1" panose="020B0809050000020004"/>
      <p:regular r:id="rId48"/>
    </p:embeddedFont>
    <p:embeddedFont>
      <p:font typeface="Fira Code" charset="1" panose="020B0809050000020004"/>
      <p:regular r:id="rId49"/>
    </p:embeddedFont>
    <p:embeddedFont>
      <p:font typeface="Telegraf Bold" charset="1" panose="00000800000000000000"/>
      <p:regular r:id="rId50"/>
    </p:embeddedFont>
    <p:embeddedFont>
      <p:font typeface="Lato" charset="1" panose="020F0502020204030203"/>
      <p:regular r:id="rId51"/>
    </p:embeddedFont>
    <p:embeddedFont>
      <p:font typeface="Merriweather Sans" charset="1" panose="00000500000000000000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4.jpeg" Type="http://schemas.openxmlformats.org/officeDocument/2006/relationships/image"/><Relationship Id="rId8" Target="../media/image25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6.jpeg" Type="http://schemas.openxmlformats.org/officeDocument/2006/relationships/image"/><Relationship Id="rId8" Target="../media/image27.png" Type="http://schemas.openxmlformats.org/officeDocument/2006/relationships/image"/><Relationship Id="rId9" Target="../media/image28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6488" y="437827"/>
            <a:ext cx="14595024" cy="121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8"/>
              </a:lnSpc>
            </a:pPr>
            <a:r>
              <a:rPr lang="en-US" b="true" sz="702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6488" y="3288468"/>
            <a:ext cx="10162036" cy="76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Project Title : </a:t>
            </a:r>
            <a:r>
              <a:rPr lang="en-US" b="true" sz="4468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The El doˈɾaðo Explorer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46488" y="5466262"/>
            <a:ext cx="10162036" cy="57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868AC6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Presented By,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46488" y="6280316"/>
            <a:ext cx="10162036" cy="53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6"/>
              </a:lnSpc>
              <a:spcBef>
                <a:spcPct val="0"/>
              </a:spcBef>
            </a:pPr>
            <a:r>
              <a:rPr lang="en-US" b="true" sz="3068">
                <a:solidFill>
                  <a:srgbClr val="050E9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MD. Azizul Hakim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6488" y="6864663"/>
            <a:ext cx="10162036" cy="43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  <a:spcBef>
                <a:spcPct val="0"/>
              </a:spcBef>
            </a:pPr>
            <a:r>
              <a:rPr lang="en-US" sz="2568">
                <a:solidFill>
                  <a:srgbClr val="4248A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BSSE 1634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46488" y="7712065"/>
            <a:ext cx="10162036" cy="43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  <a:spcBef>
                <a:spcPct val="0"/>
              </a:spcBef>
            </a:pPr>
            <a:r>
              <a:rPr lang="en-US" sz="2568">
                <a:solidFill>
                  <a:srgbClr val="4248A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Institute of Information Technology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46488" y="7288364"/>
            <a:ext cx="10162036" cy="43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  <a:spcBef>
                <a:spcPct val="0"/>
              </a:spcBef>
            </a:pPr>
            <a:r>
              <a:rPr lang="en-US" sz="2568">
                <a:solidFill>
                  <a:srgbClr val="4248A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Software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79476" y="5466262"/>
            <a:ext cx="10162036" cy="57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868AC6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Supervised By,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79476" y="6280316"/>
            <a:ext cx="10162036" cy="53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96"/>
              </a:lnSpc>
              <a:spcBef>
                <a:spcPct val="0"/>
              </a:spcBef>
            </a:pPr>
            <a:r>
              <a:rPr lang="en-US" b="true" sz="3068">
                <a:solidFill>
                  <a:srgbClr val="050E9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Prof. Dr. Mohammad Shoyaib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79476" y="6867838"/>
            <a:ext cx="10162036" cy="43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96"/>
              </a:lnSpc>
              <a:spcBef>
                <a:spcPct val="0"/>
              </a:spcBef>
            </a:pPr>
            <a:r>
              <a:rPr lang="en-US" sz="2568">
                <a:solidFill>
                  <a:srgbClr val="4248A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Professor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79476" y="7288364"/>
            <a:ext cx="10162036" cy="43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96"/>
              </a:lnSpc>
              <a:spcBef>
                <a:spcPct val="0"/>
              </a:spcBef>
            </a:pPr>
            <a:r>
              <a:rPr lang="en-US" sz="2568">
                <a:solidFill>
                  <a:srgbClr val="4248A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Institute of Information Technology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46488" y="1545393"/>
            <a:ext cx="14595024" cy="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8"/>
              </a:lnSpc>
            </a:pPr>
            <a:r>
              <a:rPr lang="en-US" sz="4720">
                <a:solidFill>
                  <a:srgbClr val="005BE3"/>
                </a:solidFill>
                <a:latin typeface="Lora"/>
                <a:ea typeface="Lora"/>
                <a:cs typeface="Lora"/>
                <a:sym typeface="Lora"/>
              </a:rPr>
              <a:t>SOFTWARE PROJECT LAB - 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46488" y="8132590"/>
            <a:ext cx="10162036" cy="43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  <a:spcBef>
                <a:spcPct val="0"/>
              </a:spcBef>
            </a:pPr>
            <a:r>
              <a:rPr lang="en-US" sz="2568">
                <a:solidFill>
                  <a:srgbClr val="4248A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University of Dhaka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79476" y="7708889"/>
            <a:ext cx="10162036" cy="43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96"/>
              </a:lnSpc>
              <a:spcBef>
                <a:spcPct val="0"/>
              </a:spcBef>
            </a:pPr>
            <a:r>
              <a:rPr lang="en-US" sz="2568">
                <a:solidFill>
                  <a:srgbClr val="4248A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University of Dhaka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9903" y="1173918"/>
            <a:ext cx="11228195" cy="121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7"/>
              </a:lnSpc>
            </a:pPr>
            <a:r>
              <a:rPr lang="en-US" b="true" sz="7019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3689" y="2933836"/>
            <a:ext cx="13535654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El Dorado Explorer</a:t>
            </a:r>
            <a:r>
              <a:rPr lang="en-US" b="true" sz="3999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999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is a multi-modal local retrieval system designed to efficiently search and extract information from large-scale heterogeneous data sources.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9903" y="1173918"/>
            <a:ext cx="11228195" cy="121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7"/>
              </a:lnSpc>
            </a:pPr>
            <a:r>
              <a:rPr lang="en-US" b="true" sz="7019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RETRIEVAL STRATEGY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3689" y="2933836"/>
            <a:ext cx="13535654" cy="672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Follow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 a two-phase retrieval approach.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Initial query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</a:p>
          <a:p>
            <a:pPr algn="l" marL="1640841" indent="-546947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direct brute-force processing.</a:t>
            </a:r>
          </a:p>
          <a:p>
            <a:pPr algn="l" marL="1640841" indent="-546947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Performs full computation (PDF parsing, pixel-level analysis).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Subsequent queries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</a:t>
            </a:r>
          </a:p>
          <a:p>
            <a:pPr algn="l" marL="1640841" indent="-546947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 module-specific cached representations.</a:t>
            </a:r>
          </a:p>
          <a:p>
            <a:pPr algn="l" marL="1640841" indent="-546947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Avoid repeated expensive computations.</a:t>
            </a:r>
          </a:p>
          <a:p>
            <a:pPr algn="l" marL="1640841" indent="-546947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 in significantly faster execution.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9903" y="1173918"/>
            <a:ext cx="11228195" cy="121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7"/>
              </a:lnSpc>
            </a:pPr>
            <a:r>
              <a:rPr lang="en-US" b="true" sz="7019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CURRENT MODULES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3689" y="3372485"/>
            <a:ext cx="13535654" cy="338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 pluggable </a:t>
            </a:r>
            <a:r>
              <a:rPr lang="en-US" b="true" sz="38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search modules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(extensible design).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</a:t>
            </a:r>
            <a:r>
              <a:rPr lang="en-US" b="true" sz="38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rrent modules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 </a:t>
            </a:r>
            <a:r>
              <a:rPr lang="en-US" b="true" sz="38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PDF text retrieval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(la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cale document search).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 </a:t>
            </a:r>
            <a:r>
              <a:rPr lang="en-US" b="true" sz="38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Bayesian-based</a:t>
            </a:r>
            <a:r>
              <a:rPr lang="en-US" sz="38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image skin segment retrieval.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9903" y="4465891"/>
            <a:ext cx="11228195" cy="121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7"/>
              </a:lnSpc>
            </a:pPr>
            <a:r>
              <a:rPr lang="en-US" sz="7019">
                <a:solidFill>
                  <a:srgbClr val="050E9B"/>
                </a:solidFill>
                <a:latin typeface="Gagalin"/>
                <a:ea typeface="Gagalin"/>
                <a:cs typeface="Gagalin"/>
                <a:sym typeface="Gagalin"/>
              </a:rPr>
              <a:t>MODULE-1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3195851"/>
            <a:ext cx="7240445" cy="4823947"/>
          </a:xfrm>
          <a:custGeom>
            <a:avLst/>
            <a:gdLst/>
            <a:ahLst/>
            <a:cxnLst/>
            <a:rect r="r" b="b" t="t" l="l"/>
            <a:pathLst>
              <a:path h="4823947" w="7240445">
                <a:moveTo>
                  <a:pt x="0" y="0"/>
                </a:moveTo>
                <a:lnTo>
                  <a:pt x="7240445" y="0"/>
                </a:lnTo>
                <a:lnTo>
                  <a:pt x="7240445" y="4823946"/>
                </a:lnTo>
                <a:lnTo>
                  <a:pt x="0" y="48239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9525" cap="sq">
            <a:solidFill>
              <a:srgbClr val="050E9B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529903" y="1173918"/>
            <a:ext cx="11228195" cy="121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7"/>
              </a:lnSpc>
            </a:pPr>
            <a:r>
              <a:rPr lang="en-US" b="true" sz="7019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MOTIVATION - 1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2366" y="3447309"/>
            <a:ext cx="6877799" cy="416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7840" indent="-418920" lvl="1">
              <a:lnSpc>
                <a:spcPts val="5432"/>
              </a:lnSpc>
              <a:buFont typeface="Arial"/>
              <a:buChar char="•"/>
            </a:pPr>
            <a:r>
              <a:rPr lang="en-US" sz="3880" spc="-54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Thousands of PDF files stored</a:t>
            </a:r>
          </a:p>
          <a:p>
            <a:pPr algn="l" marL="837840" indent="-418920" lvl="1">
              <a:lnSpc>
                <a:spcPts val="5432"/>
              </a:lnSpc>
              <a:buFont typeface="Arial"/>
              <a:buChar char="•"/>
            </a:pPr>
            <a:r>
              <a:rPr lang="en-US" sz="3880" spc="-54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Need to find specific content quickly</a:t>
            </a:r>
          </a:p>
          <a:p>
            <a:pPr algn="l" marL="837840" indent="-418920" lvl="1">
              <a:lnSpc>
                <a:spcPts val="5432"/>
              </a:lnSpc>
              <a:buFont typeface="Arial"/>
              <a:buChar char="•"/>
            </a:pPr>
            <a:r>
              <a:rPr lang="en-US" sz="3880" spc="-54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Manual search is inefficient and time-consuming 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" t="0" r="-435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93689" y="4040045"/>
            <a:ext cx="13535654" cy="14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erforms k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yword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 </a:t>
            </a: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PDFs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with linear scanning and cached text represent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ff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cient repe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et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ie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08412" y="3374193"/>
            <a:ext cx="7912917" cy="5396549"/>
          </a:xfrm>
          <a:custGeom>
            <a:avLst/>
            <a:gdLst/>
            <a:ahLst/>
            <a:cxnLst/>
            <a:rect r="r" b="b" t="t" l="l"/>
            <a:pathLst>
              <a:path h="5396549" w="7912917">
                <a:moveTo>
                  <a:pt x="0" y="0"/>
                </a:moveTo>
                <a:lnTo>
                  <a:pt x="7912917" y="0"/>
                </a:lnTo>
                <a:lnTo>
                  <a:pt x="7912917" y="5396549"/>
                </a:lnTo>
                <a:lnTo>
                  <a:pt x="0" y="5396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680" y="4216998"/>
            <a:ext cx="7189366" cy="355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Search Mode - PDF or Image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Search Scope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Number of Roots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Specifying Root names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Search Depth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2810" y="3231919"/>
            <a:ext cx="5426532" cy="84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Inputs -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36449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97065" y="3171416"/>
            <a:ext cx="7271207" cy="5725903"/>
          </a:xfrm>
          <a:custGeom>
            <a:avLst/>
            <a:gdLst/>
            <a:ahLst/>
            <a:cxnLst/>
            <a:rect r="r" b="b" t="t" l="l"/>
            <a:pathLst>
              <a:path h="5725903" w="7271207">
                <a:moveTo>
                  <a:pt x="0" y="0"/>
                </a:moveTo>
                <a:lnTo>
                  <a:pt x="7271207" y="0"/>
                </a:lnTo>
                <a:lnTo>
                  <a:pt x="7271207" y="5725903"/>
                </a:lnTo>
                <a:lnTo>
                  <a:pt x="0" y="57259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06680" y="4216998"/>
            <a:ext cx="7189366" cy="348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Whole or partial word?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Search Level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Keyword Mode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Specifying Keywords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Case sensitivity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2810" y="3231919"/>
            <a:ext cx="5426532" cy="84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Inputs -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170709" y="7315076"/>
            <a:ext cx="850060" cy="384262"/>
            <a:chOff x="0" y="0"/>
            <a:chExt cx="223884" cy="1012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884" cy="101205"/>
            </a:xfrm>
            <a:custGeom>
              <a:avLst/>
              <a:gdLst/>
              <a:ahLst/>
              <a:cxnLst/>
              <a:rect r="r" b="b" t="t" l="l"/>
              <a:pathLst>
                <a:path h="101205" w="223884">
                  <a:moveTo>
                    <a:pt x="0" y="0"/>
                  </a:moveTo>
                  <a:lnTo>
                    <a:pt x="223884" y="0"/>
                  </a:lnTo>
                  <a:lnTo>
                    <a:pt x="223884" y="101205"/>
                  </a:lnTo>
                  <a:lnTo>
                    <a:pt x="0" y="101205"/>
                  </a:lnTo>
                  <a:close/>
                </a:path>
              </a:pathLst>
            </a:custGeom>
            <a:solidFill>
              <a:srgbClr val="1EBDFF">
                <a:alpha val="33725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3884" cy="139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43934" y="2615685"/>
            <a:ext cx="6224305" cy="7163475"/>
          </a:xfrm>
          <a:custGeom>
            <a:avLst/>
            <a:gdLst/>
            <a:ahLst/>
            <a:cxnLst/>
            <a:rect r="r" b="b" t="t" l="l"/>
            <a:pathLst>
              <a:path h="7163475" w="6224305">
                <a:moveTo>
                  <a:pt x="0" y="0"/>
                </a:moveTo>
                <a:lnTo>
                  <a:pt x="6224305" y="0"/>
                </a:lnTo>
                <a:lnTo>
                  <a:pt x="6224305" y="7163476"/>
                </a:lnTo>
                <a:lnTo>
                  <a:pt x="0" y="71634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06680" y="4216998"/>
            <a:ext cx="7189366" cy="348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File paths inside roots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Page numbers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Line numbers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Target Lines with keywords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Suggestion of words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2810" y="3231919"/>
            <a:ext cx="5426532" cy="84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Output 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35231" y="3374193"/>
            <a:ext cx="9817538" cy="1454450"/>
          </a:xfrm>
          <a:custGeom>
            <a:avLst/>
            <a:gdLst/>
            <a:ahLst/>
            <a:cxnLst/>
            <a:rect r="r" b="b" t="t" l="l"/>
            <a:pathLst>
              <a:path h="1454450" w="9817538">
                <a:moveTo>
                  <a:pt x="0" y="0"/>
                </a:moveTo>
                <a:lnTo>
                  <a:pt x="9817538" y="0"/>
                </a:lnTo>
                <a:lnTo>
                  <a:pt x="9817538" y="1454450"/>
                </a:lnTo>
                <a:lnTo>
                  <a:pt x="0" y="1454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17476" y="4972050"/>
            <a:ext cx="542653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Navigation 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17476" y="5940488"/>
            <a:ext cx="9653047" cy="211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User enters the serial number.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corresponding PDF opens at the specified </a:t>
            </a:r>
            <a:r>
              <a:rPr lang="en-US" b="true" sz="39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page</a:t>
            </a: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 the browser.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43934" y="4210454"/>
            <a:ext cx="10558029" cy="2129654"/>
          </a:xfrm>
          <a:custGeom>
            <a:avLst/>
            <a:gdLst/>
            <a:ahLst/>
            <a:cxnLst/>
            <a:rect r="r" b="b" t="t" l="l"/>
            <a:pathLst>
              <a:path h="2129654" w="10558029">
                <a:moveTo>
                  <a:pt x="0" y="0"/>
                </a:moveTo>
                <a:lnTo>
                  <a:pt x="10558029" y="0"/>
                </a:lnTo>
                <a:lnTo>
                  <a:pt x="10558029" y="2129654"/>
                </a:lnTo>
                <a:lnTo>
                  <a:pt x="0" y="2129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15359" y="7176368"/>
            <a:ext cx="9945171" cy="2520665"/>
          </a:xfrm>
          <a:custGeom>
            <a:avLst/>
            <a:gdLst/>
            <a:ahLst/>
            <a:cxnLst/>
            <a:rect r="r" b="b" t="t" l="l"/>
            <a:pathLst>
              <a:path h="2520665" w="9945171">
                <a:moveTo>
                  <a:pt x="0" y="0"/>
                </a:moveTo>
                <a:lnTo>
                  <a:pt x="9945171" y="0"/>
                </a:lnTo>
                <a:lnTo>
                  <a:pt x="9945171" y="2520666"/>
                </a:lnTo>
                <a:lnTo>
                  <a:pt x="0" y="25206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43934" y="6521083"/>
            <a:ext cx="9653047" cy="6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Keyword : </a:t>
            </a:r>
            <a:r>
              <a:rPr lang="en-US" sz="35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43934" y="3563390"/>
            <a:ext cx="9653047" cy="64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Keyword : </a:t>
            </a:r>
            <a:r>
              <a:rPr lang="en-US" sz="34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Religion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43934" y="2635054"/>
            <a:ext cx="13147466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If </a:t>
            </a:r>
            <a:r>
              <a:rPr lang="en-US" sz="39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Deep Search</a:t>
            </a: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is ON, then it shows </a:t>
            </a:r>
            <a:r>
              <a:rPr lang="en-US" sz="39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WORD SUGGESTIONS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43934" y="3062102"/>
            <a:ext cx="13147466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Three word-matching algorithms 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43934" y="4290399"/>
            <a:ext cx="13147466" cy="211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3" indent="-421007" lvl="1">
              <a:lnSpc>
                <a:spcPts val="5460"/>
              </a:lnSpc>
              <a:buAutoNum type="arabicPeriod" startAt="1"/>
            </a:pPr>
            <a:r>
              <a:rPr lang="en-US" b="true" sz="39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Levenshtein distance</a:t>
            </a:r>
          </a:p>
          <a:p>
            <a:pPr algn="l" marL="842013" indent="-421007" lvl="1">
              <a:lnSpc>
                <a:spcPts val="5460"/>
              </a:lnSpc>
              <a:buAutoNum type="arabicPeriod" startAt="1"/>
            </a:pPr>
            <a:r>
              <a:rPr lang="en-US" b="true" sz="39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Jaro-winkler similarity</a:t>
            </a:r>
          </a:p>
          <a:p>
            <a:pPr algn="l" marL="842013" indent="-421007" lvl="1">
              <a:lnSpc>
                <a:spcPts val="5460"/>
              </a:lnSpc>
              <a:buAutoNum type="arabicPeriod" startAt="1"/>
            </a:pPr>
            <a:r>
              <a:rPr lang="en-US" b="true" sz="39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Soundex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43934" y="2799707"/>
            <a:ext cx="13147466" cy="120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D3442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Problem - Efficiency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43934" y="4404360"/>
            <a:ext cx="13403696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Text is repeatedly extracted from the same PDF files !!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3934" y="5353866"/>
            <a:ext cx="13403696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PDF </a:t>
            </a:r>
            <a:r>
              <a:rPr lang="en-US" sz="39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text extraction</a:t>
            </a: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is time-consuming and computationally expensive !!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45995" y="5693980"/>
            <a:ext cx="6233919" cy="3471502"/>
          </a:xfrm>
          <a:custGeom>
            <a:avLst/>
            <a:gdLst/>
            <a:ahLst/>
            <a:cxnLst/>
            <a:rect r="r" b="b" t="t" l="l"/>
            <a:pathLst>
              <a:path h="3471502" w="6233919">
                <a:moveTo>
                  <a:pt x="0" y="0"/>
                </a:moveTo>
                <a:lnTo>
                  <a:pt x="6233919" y="0"/>
                </a:lnTo>
                <a:lnTo>
                  <a:pt x="6233919" y="3471502"/>
                </a:lnTo>
                <a:lnTo>
                  <a:pt x="0" y="3471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72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41669" y="4611599"/>
            <a:ext cx="6257608" cy="4553883"/>
          </a:xfrm>
          <a:custGeom>
            <a:avLst/>
            <a:gdLst/>
            <a:ahLst/>
            <a:cxnLst/>
            <a:rect r="r" b="b" t="t" l="l"/>
            <a:pathLst>
              <a:path h="4553883" w="6257608">
                <a:moveTo>
                  <a:pt x="0" y="0"/>
                </a:moveTo>
                <a:lnTo>
                  <a:pt x="6257608" y="0"/>
                </a:lnTo>
                <a:lnTo>
                  <a:pt x="6257608" y="4553883"/>
                </a:lnTo>
                <a:lnTo>
                  <a:pt x="0" y="45538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88192" y="9308357"/>
            <a:ext cx="4949524" cy="6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 File Structure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28394" y="9308357"/>
            <a:ext cx="4949524" cy="6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EA29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MIRROR File Structure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49012" y="6155117"/>
            <a:ext cx="5780330" cy="2870820"/>
            <a:chOff x="0" y="0"/>
            <a:chExt cx="1522392" cy="7561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2391" cy="756101"/>
            </a:xfrm>
            <a:custGeom>
              <a:avLst/>
              <a:gdLst/>
              <a:ahLst/>
              <a:cxnLst/>
              <a:rect r="r" b="b" t="t" l="l"/>
              <a:pathLst>
                <a:path h="756101" w="1522391">
                  <a:moveTo>
                    <a:pt x="0" y="0"/>
                  </a:moveTo>
                  <a:lnTo>
                    <a:pt x="1522391" y="0"/>
                  </a:lnTo>
                  <a:lnTo>
                    <a:pt x="1522391" y="756101"/>
                  </a:lnTo>
                  <a:lnTo>
                    <a:pt x="0" y="756101"/>
                  </a:lnTo>
                  <a:close/>
                </a:path>
              </a:pathLst>
            </a:custGeom>
            <a:solidFill>
              <a:srgbClr val="1EBDFF">
                <a:alpha val="2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2392" cy="794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943934" y="204411"/>
            <a:ext cx="12400131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b="true" sz="58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87679" y="1156911"/>
            <a:ext cx="1171264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45995" y="2886331"/>
            <a:ext cx="10801350" cy="106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306" indent="-334653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Stores extracted text from PDFs after the first search.</a:t>
            </a:r>
          </a:p>
          <a:p>
            <a:pPr algn="l" marL="669306" indent="-334653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Eliminates repeated PDF-to-text conversion.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45995" y="1952420"/>
            <a:ext cx="12796010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50E9B"/>
                </a:solidFill>
                <a:latin typeface="Fredoka"/>
                <a:ea typeface="Fredoka"/>
                <a:cs typeface="Fredoka"/>
                <a:sym typeface="Fredoka"/>
              </a:rPr>
              <a:t>CACHE MECHANISM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55361" y="3602940"/>
            <a:ext cx="7849105" cy="5497157"/>
          </a:xfrm>
          <a:custGeom>
            <a:avLst/>
            <a:gdLst/>
            <a:ahLst/>
            <a:cxnLst/>
            <a:rect r="r" b="b" t="t" l="l"/>
            <a:pathLst>
              <a:path h="5497157" w="7849105">
                <a:moveTo>
                  <a:pt x="0" y="0"/>
                </a:moveTo>
                <a:lnTo>
                  <a:pt x="7849105" y="0"/>
                </a:lnTo>
                <a:lnTo>
                  <a:pt x="7849105" y="5497157"/>
                </a:lnTo>
                <a:lnTo>
                  <a:pt x="0" y="54971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05152" y="9144000"/>
            <a:ext cx="4949524" cy="6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50E9B"/>
                </a:solidFill>
                <a:latin typeface="Telegraf"/>
                <a:ea typeface="Telegraf"/>
                <a:cs typeface="Telegraf"/>
                <a:sym typeface="Telegraf"/>
              </a:rPr>
              <a:t>Sample Cache File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45995" y="2108638"/>
            <a:ext cx="12796010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50E9B"/>
                </a:solidFill>
                <a:latin typeface="Fredoka"/>
                <a:ea typeface="Fredoka"/>
                <a:cs typeface="Fredoka"/>
                <a:sym typeface="Fredoka"/>
              </a:rPr>
              <a:t>CACHE MECHANISM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58657" y="2227209"/>
            <a:ext cx="13170685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50E9B"/>
                </a:solidFill>
                <a:latin typeface="Fredoka"/>
                <a:ea typeface="Fredoka"/>
                <a:cs typeface="Fredoka"/>
                <a:sym typeface="Fredoka"/>
              </a:rPr>
              <a:t>OVERALL CACHE WORKFLOW ( HIGH-LEVEL VIEW 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02402" y="3326568"/>
            <a:ext cx="13129004" cy="668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050E9B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PDF_SEARCH</a:t>
            </a: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(){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- Iterate through PDF Files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- if ( </a:t>
            </a:r>
            <a:r>
              <a:rPr lang="en-US" sz="2500" b="true">
                <a:solidFill>
                  <a:srgbClr val="050E9B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PDF file</a:t>
            </a: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does have a Cache File ) {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       if(The Cache File is valid)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               </a:t>
            </a:r>
            <a:r>
              <a:rPr lang="en-US" sz="2500" b="true">
                <a:solidFill>
                  <a:srgbClr val="050E9B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SEARCH_CONTENT</a:t>
            </a: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(Cache File);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       else{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               </a:t>
            </a:r>
            <a:r>
              <a:rPr lang="en-US" sz="2500" b="true">
                <a:solidFill>
                  <a:srgbClr val="050E9B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DELETE_OLD_CACHE</a:t>
            </a: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(PDF File);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               </a:t>
            </a:r>
            <a:r>
              <a:rPr lang="en-US" sz="2500" b="true">
                <a:solidFill>
                  <a:srgbClr val="050E9B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SEARCH_CONTENT</a:t>
            </a: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2500" b="true">
                <a:solidFill>
                  <a:srgbClr val="EA290A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Convert_to_text</a:t>
            </a: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(PDF File));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               </a:t>
            </a:r>
            <a:r>
              <a:rPr lang="en-US" sz="2500" b="true">
                <a:solidFill>
                  <a:srgbClr val="050E9B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STORE_CACHE</a:t>
            </a: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(PDF File);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       }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}else{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          </a:t>
            </a:r>
            <a:r>
              <a:rPr lang="en-US" sz="2500" b="true">
                <a:solidFill>
                  <a:srgbClr val="050E9B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SEARCH_CONTENT</a:t>
            </a: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2500" b="true">
                <a:solidFill>
                  <a:srgbClr val="EA290A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Convert_to_text</a:t>
            </a: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(PDF File));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          </a:t>
            </a:r>
            <a:r>
              <a:rPr lang="en-US" sz="2500" b="true">
                <a:solidFill>
                  <a:srgbClr val="050E9B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STORE_CACHE</a:t>
            </a: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(PDF File);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            }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50E9B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</a:p>
          <a:p>
            <a:pPr algn="l">
              <a:lnSpc>
                <a:spcPts val="280"/>
              </a:lnSpc>
            </a:pPr>
            <a:r>
              <a:rPr lang="en-US" sz="2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05443" y="3555168"/>
            <a:ext cx="12277114" cy="4298663"/>
          </a:xfrm>
          <a:custGeom>
            <a:avLst/>
            <a:gdLst/>
            <a:ahLst/>
            <a:cxnLst/>
            <a:rect r="r" b="b" t="t" l="l"/>
            <a:pathLst>
              <a:path h="4298663" w="12277114">
                <a:moveTo>
                  <a:pt x="0" y="0"/>
                </a:moveTo>
                <a:lnTo>
                  <a:pt x="12277114" y="0"/>
                </a:lnTo>
                <a:lnTo>
                  <a:pt x="12277114" y="4298663"/>
                </a:lnTo>
                <a:lnTo>
                  <a:pt x="0" y="42986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7759820">
            <a:off x="4219020" y="2387034"/>
            <a:ext cx="1179843" cy="971636"/>
            <a:chOff x="0" y="0"/>
            <a:chExt cx="647700" cy="5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1EBD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58657" y="2227209"/>
            <a:ext cx="13170685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50E9B"/>
                </a:solidFill>
                <a:latin typeface="Fredoka"/>
                <a:ea typeface="Fredoka"/>
                <a:cs typeface="Fredoka"/>
                <a:sym typeface="Fredoka"/>
              </a:rPr>
              <a:t>CACHE OUTPUT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72888" y="8133819"/>
            <a:ext cx="10942223" cy="6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50E9B"/>
                </a:solidFill>
                <a:latin typeface="Telegraf"/>
                <a:ea typeface="Telegraf"/>
                <a:cs typeface="Telegraf"/>
                <a:sym typeface="Telegraf"/>
              </a:rPr>
              <a:t>Here, </a:t>
            </a:r>
            <a:r>
              <a:rPr lang="en-US" sz="3500" b="true">
                <a:solidFill>
                  <a:srgbClr val="050E9B"/>
                </a:solidFill>
                <a:latin typeface="Telegraf Bold"/>
                <a:ea typeface="Telegraf Bold"/>
                <a:cs typeface="Telegraf Bold"/>
                <a:sym typeface="Telegraf Bold"/>
              </a:rPr>
              <a:t>Search Result</a:t>
            </a:r>
            <a:r>
              <a:rPr lang="en-US" sz="3500">
                <a:solidFill>
                  <a:srgbClr val="050E9B"/>
                </a:solidFill>
                <a:latin typeface="Telegraf"/>
                <a:ea typeface="Telegraf"/>
                <a:cs typeface="Telegraf"/>
                <a:sym typeface="Telegraf"/>
              </a:rPr>
              <a:t> is retrieved from the cache file.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22009" y="4006191"/>
            <a:ext cx="10219212" cy="2068418"/>
          </a:xfrm>
          <a:custGeom>
            <a:avLst/>
            <a:gdLst/>
            <a:ahLst/>
            <a:cxnLst/>
            <a:rect r="r" b="b" t="t" l="l"/>
            <a:pathLst>
              <a:path h="2068418" w="10219212">
                <a:moveTo>
                  <a:pt x="0" y="0"/>
                </a:moveTo>
                <a:lnTo>
                  <a:pt x="10219212" y="0"/>
                </a:lnTo>
                <a:lnTo>
                  <a:pt x="10219212" y="2068418"/>
                </a:lnTo>
                <a:lnTo>
                  <a:pt x="0" y="20684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22009" y="7189882"/>
            <a:ext cx="10219212" cy="2068418"/>
          </a:xfrm>
          <a:custGeom>
            <a:avLst/>
            <a:gdLst/>
            <a:ahLst/>
            <a:cxnLst/>
            <a:rect r="r" b="b" t="t" l="l"/>
            <a:pathLst>
              <a:path h="2068418" w="10219212">
                <a:moveTo>
                  <a:pt x="0" y="0"/>
                </a:moveTo>
                <a:lnTo>
                  <a:pt x="10219212" y="0"/>
                </a:lnTo>
                <a:lnTo>
                  <a:pt x="10219212" y="2068418"/>
                </a:lnTo>
                <a:lnTo>
                  <a:pt x="0" y="20684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58657" y="2227209"/>
            <a:ext cx="13170685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50E9B"/>
                </a:solidFill>
                <a:latin typeface="Fredoka"/>
                <a:ea typeface="Fredoka"/>
                <a:cs typeface="Fredoka"/>
                <a:sym typeface="Fredoka"/>
              </a:rPr>
              <a:t>CACHE EFFICIENCY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22009" y="3180692"/>
            <a:ext cx="10942223" cy="6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50E9B"/>
                </a:solidFill>
                <a:latin typeface="Telegraf"/>
                <a:ea typeface="Telegraf"/>
                <a:cs typeface="Telegraf"/>
                <a:sym typeface="Telegraf"/>
              </a:rPr>
              <a:t>A normal PDF File size 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22009" y="6398172"/>
            <a:ext cx="10942223" cy="6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50E9B"/>
                </a:solidFill>
                <a:latin typeface="Telegraf"/>
                <a:ea typeface="Telegraf"/>
                <a:cs typeface="Telegraf"/>
                <a:sym typeface="Telegraf"/>
              </a:rPr>
              <a:t>Its Cache File size 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PDF Text Retrieval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2844007"/>
            <a:ext cx="6827996" cy="6042777"/>
          </a:xfrm>
          <a:custGeom>
            <a:avLst/>
            <a:gdLst/>
            <a:ahLst/>
            <a:cxnLst/>
            <a:rect r="r" b="b" t="t" l="l"/>
            <a:pathLst>
              <a:path h="6042777" w="6827996">
                <a:moveTo>
                  <a:pt x="0" y="0"/>
                </a:moveTo>
                <a:lnTo>
                  <a:pt x="6827996" y="0"/>
                </a:lnTo>
                <a:lnTo>
                  <a:pt x="6827996" y="6042777"/>
                </a:lnTo>
                <a:lnTo>
                  <a:pt x="0" y="60427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29903" y="1031710"/>
            <a:ext cx="11228195" cy="121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7"/>
              </a:lnSpc>
            </a:pPr>
            <a:r>
              <a:rPr lang="en-US" b="true" sz="7019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MOTIVATION - 2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7171" y="4047780"/>
            <a:ext cx="6877799" cy="348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7840" indent="-418920" lvl="1">
              <a:lnSpc>
                <a:spcPts val="5432"/>
              </a:lnSpc>
              <a:buFont typeface="Arial"/>
              <a:buChar char="•"/>
            </a:pPr>
            <a:r>
              <a:rPr lang="en-US" sz="3880" spc="-54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Thousands of Image files stored.</a:t>
            </a:r>
          </a:p>
          <a:p>
            <a:pPr algn="l" marL="837840" indent="-418920" lvl="1">
              <a:lnSpc>
                <a:spcPts val="5432"/>
              </a:lnSpc>
              <a:buFont typeface="Arial"/>
              <a:buChar char="•"/>
            </a:pPr>
            <a:r>
              <a:rPr lang="en-US" sz="3880" spc="-54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Need to search and detect </a:t>
            </a:r>
            <a:r>
              <a:rPr lang="en-US" b="true" sz="3880" spc="-54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HUMAN SKIN </a:t>
            </a:r>
            <a:r>
              <a:rPr lang="en-US" sz="3880" spc="-54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regions from the images.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9903" y="4465891"/>
            <a:ext cx="11228195" cy="121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7"/>
              </a:lnSpc>
            </a:pPr>
            <a:r>
              <a:rPr lang="en-US" sz="7019">
                <a:solidFill>
                  <a:srgbClr val="050E9B"/>
                </a:solidFill>
                <a:latin typeface="Gagalin"/>
                <a:ea typeface="Gagalin"/>
                <a:cs typeface="Gagalin"/>
                <a:sym typeface="Gagalin"/>
              </a:rPr>
              <a:t>MODULE-2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93689" y="4040045"/>
            <a:ext cx="13535654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sys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cludes an </a:t>
            </a: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image retrieval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module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that identifies and extracts </a:t>
            </a: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human skin regions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using a pixel-level </a:t>
            </a: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Naive Bayes classification model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Skin Region Retrieval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95911" y="2982621"/>
            <a:ext cx="6248089" cy="5559740"/>
          </a:xfrm>
          <a:custGeom>
            <a:avLst/>
            <a:gdLst/>
            <a:ahLst/>
            <a:cxnLst/>
            <a:rect r="r" b="b" t="t" l="l"/>
            <a:pathLst>
              <a:path h="5559740" w="6248089">
                <a:moveTo>
                  <a:pt x="0" y="0"/>
                </a:moveTo>
                <a:lnTo>
                  <a:pt x="6248089" y="0"/>
                </a:lnTo>
                <a:lnTo>
                  <a:pt x="6248089" y="5559741"/>
                </a:lnTo>
                <a:lnTo>
                  <a:pt x="0" y="55597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680" y="4216998"/>
            <a:ext cx="7189366" cy="279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Search Mode - PDF or Image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Version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Specifying Root name</a:t>
            </a:r>
          </a:p>
          <a:p>
            <a:pPr algn="l" marL="842013" indent="-421007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Search Depth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2810" y="3231919"/>
            <a:ext cx="5426532" cy="84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Inputs 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Skin Region Retrieval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57234" y="3067492"/>
            <a:ext cx="7086766" cy="5448951"/>
          </a:xfrm>
          <a:custGeom>
            <a:avLst/>
            <a:gdLst/>
            <a:ahLst/>
            <a:cxnLst/>
            <a:rect r="r" b="b" t="t" l="l"/>
            <a:pathLst>
              <a:path h="5448951" w="7086766">
                <a:moveTo>
                  <a:pt x="0" y="0"/>
                </a:moveTo>
                <a:lnTo>
                  <a:pt x="7086766" y="0"/>
                </a:lnTo>
                <a:lnTo>
                  <a:pt x="7086766" y="5448950"/>
                </a:lnTo>
                <a:lnTo>
                  <a:pt x="0" y="5448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22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Skin Region Retrieval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818964"/>
            <a:ext cx="7185011" cy="438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5" indent="-377828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Performs </a:t>
            </a:r>
            <a:r>
              <a:rPr lang="en-US" b="true" sz="35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pixel-level</a:t>
            </a: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human skin </a:t>
            </a: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region </a:t>
            </a:r>
            <a:r>
              <a:rPr lang="en-US" b="true" sz="35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classification</a:t>
            </a: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l" marL="755655" indent="-377828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Generates and caches </a:t>
            </a:r>
            <a:r>
              <a:rPr lang="en-US" b="true" sz="3500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skin-segmented image representations</a:t>
            </a:r>
          </a:p>
          <a:p>
            <a:pPr algn="l" marL="755655" indent="-377828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Allows the user to select which image’s skin-segme</a:t>
            </a: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ted</a:t>
            </a: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</a:t>
            </a: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esul</a:t>
            </a: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5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view.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3789" y="2756567"/>
            <a:ext cx="5426532" cy="84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Outputs -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3633" y="5072361"/>
            <a:ext cx="7379507" cy="3587519"/>
          </a:xfrm>
          <a:custGeom>
            <a:avLst/>
            <a:gdLst/>
            <a:ahLst/>
            <a:cxnLst/>
            <a:rect r="r" b="b" t="t" l="l"/>
            <a:pathLst>
              <a:path h="3587519" w="7379507">
                <a:moveTo>
                  <a:pt x="0" y="0"/>
                </a:moveTo>
                <a:lnTo>
                  <a:pt x="7379507" y="0"/>
                </a:lnTo>
                <a:lnTo>
                  <a:pt x="7379507" y="3587518"/>
                </a:lnTo>
                <a:lnTo>
                  <a:pt x="0" y="35875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94140" y="5037726"/>
            <a:ext cx="6789053" cy="4387619"/>
          </a:xfrm>
          <a:custGeom>
            <a:avLst/>
            <a:gdLst/>
            <a:ahLst/>
            <a:cxnLst/>
            <a:rect r="r" b="b" t="t" l="l"/>
            <a:pathLst>
              <a:path h="4387619" w="6789053">
                <a:moveTo>
                  <a:pt x="0" y="0"/>
                </a:moveTo>
                <a:lnTo>
                  <a:pt x="6789053" y="0"/>
                </a:lnTo>
                <a:lnTo>
                  <a:pt x="6789053" y="4387619"/>
                </a:lnTo>
                <a:lnTo>
                  <a:pt x="0" y="43876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779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45995" y="1952420"/>
            <a:ext cx="12796010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50E9B"/>
                </a:solidFill>
                <a:latin typeface="Fredoka"/>
                <a:ea typeface="Fredoka"/>
                <a:cs typeface="Fredoka"/>
                <a:sym typeface="Fredoka"/>
              </a:rPr>
              <a:t>CACHE MECHANISM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99153" y="6580228"/>
            <a:ext cx="5984040" cy="2633806"/>
            <a:chOff x="0" y="0"/>
            <a:chExt cx="1576044" cy="6936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76044" cy="693677"/>
            </a:xfrm>
            <a:custGeom>
              <a:avLst/>
              <a:gdLst/>
              <a:ahLst/>
              <a:cxnLst/>
              <a:rect r="r" b="b" t="t" l="l"/>
              <a:pathLst>
                <a:path h="693677" w="1576044">
                  <a:moveTo>
                    <a:pt x="0" y="0"/>
                  </a:moveTo>
                  <a:lnTo>
                    <a:pt x="1576044" y="0"/>
                  </a:lnTo>
                  <a:lnTo>
                    <a:pt x="1576044" y="693677"/>
                  </a:lnTo>
                  <a:lnTo>
                    <a:pt x="0" y="693677"/>
                  </a:lnTo>
                  <a:close/>
                </a:path>
              </a:pathLst>
            </a:custGeom>
            <a:solidFill>
              <a:srgbClr val="1EBDFF">
                <a:alpha val="2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76044" cy="731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913074" y="4364627"/>
            <a:ext cx="4949524" cy="6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 File Structure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13904" y="4364627"/>
            <a:ext cx="4949524" cy="6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EA29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MIRROR File Structure</a:t>
            </a:r>
          </a:p>
        </p:txBody>
      </p:sp>
      <p:sp>
        <p:nvSpPr>
          <p:cNvPr name="Freeform 15" id="15"/>
          <p:cNvSpPr/>
          <p:nvPr/>
        </p:nvSpPr>
        <p:spPr>
          <a:xfrm>
            <a:off x="13098160" y="9571227"/>
            <a:ext cx="1083112" cy="488791"/>
          </a:xfrm>
          <a:custGeom>
            <a:avLst/>
            <a:gdLst/>
            <a:ahLst/>
            <a:cxnLst/>
            <a:rect r="r" b="b" t="t" l="l"/>
            <a:pathLst>
              <a:path h="488791" w="1083112">
                <a:moveTo>
                  <a:pt x="0" y="391159"/>
                </a:moveTo>
                <a:quadBezTo>
                  <a:pt x="1371559" y="707244"/>
                  <a:pt x="1006294" y="0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3082468" y="9799235"/>
            <a:ext cx="195876" cy="1784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3089920" y="9965324"/>
            <a:ext cx="201253" cy="2326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9479231" y="9645252"/>
            <a:ext cx="3344034" cy="44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5BE3"/>
                </a:solidFill>
                <a:latin typeface="Lato"/>
                <a:ea typeface="Lato"/>
                <a:cs typeface="Lato"/>
                <a:sym typeface="Lato"/>
              </a:rPr>
              <a:t>Last Modification Time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43934" y="229800"/>
            <a:ext cx="12400131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87679" y="1153725"/>
            <a:ext cx="1171264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Skin Region Retrieval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45995" y="2886331"/>
            <a:ext cx="9661049" cy="106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306" indent="-334653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Stores precomputed skin-segmentation results.</a:t>
            </a:r>
          </a:p>
          <a:p>
            <a:pPr algn="l" marL="669306" indent="-334653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Avoids repeated pixel-level classification.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53564" y="2798315"/>
            <a:ext cx="5161482" cy="5240083"/>
          </a:xfrm>
          <a:custGeom>
            <a:avLst/>
            <a:gdLst/>
            <a:ahLst/>
            <a:cxnLst/>
            <a:rect r="r" b="b" t="t" l="l"/>
            <a:pathLst>
              <a:path h="5240083" w="5161482">
                <a:moveTo>
                  <a:pt x="0" y="0"/>
                </a:moveTo>
                <a:lnTo>
                  <a:pt x="5161482" y="0"/>
                </a:lnTo>
                <a:lnTo>
                  <a:pt x="5161482" y="5240083"/>
                </a:lnTo>
                <a:lnTo>
                  <a:pt x="0" y="52400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91453" y="2798315"/>
            <a:ext cx="5161482" cy="5240083"/>
          </a:xfrm>
          <a:custGeom>
            <a:avLst/>
            <a:gdLst/>
            <a:ahLst/>
            <a:cxnLst/>
            <a:rect r="r" b="b" t="t" l="l"/>
            <a:pathLst>
              <a:path h="5240083" w="5161482">
                <a:moveTo>
                  <a:pt x="0" y="0"/>
                </a:moveTo>
                <a:lnTo>
                  <a:pt x="5161482" y="0"/>
                </a:lnTo>
                <a:lnTo>
                  <a:pt x="5161482" y="5240083"/>
                </a:lnTo>
                <a:lnTo>
                  <a:pt x="0" y="52400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62012" y="8160088"/>
            <a:ext cx="4544585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50E9B"/>
                </a:solidFill>
                <a:latin typeface="Canva Sans"/>
                <a:ea typeface="Canva Sans"/>
                <a:cs typeface="Canva Sans"/>
                <a:sym typeface="Canva Sans"/>
              </a:rPr>
              <a:t>Original Image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99902" y="8160088"/>
            <a:ext cx="4544585" cy="106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EA290A"/>
                </a:solidFill>
                <a:latin typeface="Canva Sans"/>
                <a:ea typeface="Canva Sans"/>
                <a:cs typeface="Canva Sans"/>
                <a:sym typeface="Canva Sans"/>
              </a:rPr>
              <a:t>Predicted Skin Segment by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Skin Region Retrieval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13804" y="2720602"/>
            <a:ext cx="4037545" cy="5787148"/>
          </a:xfrm>
          <a:custGeom>
            <a:avLst/>
            <a:gdLst/>
            <a:ahLst/>
            <a:cxnLst/>
            <a:rect r="r" b="b" t="t" l="l"/>
            <a:pathLst>
              <a:path h="5787148" w="4037545">
                <a:moveTo>
                  <a:pt x="0" y="0"/>
                </a:moveTo>
                <a:lnTo>
                  <a:pt x="4037546" y="0"/>
                </a:lnTo>
                <a:lnTo>
                  <a:pt x="4037546" y="5787148"/>
                </a:lnTo>
                <a:lnTo>
                  <a:pt x="0" y="57871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25227" y="2720602"/>
            <a:ext cx="4037545" cy="5787148"/>
          </a:xfrm>
          <a:custGeom>
            <a:avLst/>
            <a:gdLst/>
            <a:ahLst/>
            <a:cxnLst/>
            <a:rect r="r" b="b" t="t" l="l"/>
            <a:pathLst>
              <a:path h="5787148" w="4037545">
                <a:moveTo>
                  <a:pt x="0" y="0"/>
                </a:moveTo>
                <a:lnTo>
                  <a:pt x="4037546" y="0"/>
                </a:lnTo>
                <a:lnTo>
                  <a:pt x="4037546" y="5787148"/>
                </a:lnTo>
                <a:lnTo>
                  <a:pt x="0" y="57871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91797" y="2720602"/>
            <a:ext cx="4037545" cy="5787148"/>
          </a:xfrm>
          <a:custGeom>
            <a:avLst/>
            <a:gdLst/>
            <a:ahLst/>
            <a:cxnLst/>
            <a:rect r="r" b="b" t="t" l="l"/>
            <a:pathLst>
              <a:path h="5787148" w="4037545">
                <a:moveTo>
                  <a:pt x="0" y="0"/>
                </a:moveTo>
                <a:lnTo>
                  <a:pt x="4037546" y="0"/>
                </a:lnTo>
                <a:lnTo>
                  <a:pt x="4037546" y="5787148"/>
                </a:lnTo>
                <a:lnTo>
                  <a:pt x="0" y="57871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13804" y="8536217"/>
            <a:ext cx="4082399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50E9B"/>
                </a:solidFill>
                <a:latin typeface="Canva Sans"/>
                <a:ea typeface="Canva Sans"/>
                <a:cs typeface="Canva Sans"/>
                <a:sym typeface="Canva Sans"/>
              </a:rPr>
              <a:t>Original Image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02801" y="8536217"/>
            <a:ext cx="4082399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50E9B"/>
                </a:solidFill>
                <a:latin typeface="Canva Sans"/>
                <a:ea typeface="Canva Sans"/>
                <a:cs typeface="Canva Sans"/>
                <a:sym typeface="Canva Sans"/>
              </a:rPr>
              <a:t>Ground Truth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46944" y="8536217"/>
            <a:ext cx="4082399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50E9B"/>
                </a:solidFill>
                <a:latin typeface="Canva Sans"/>
                <a:ea typeface="Canva Sans"/>
                <a:cs typeface="Canva Sans"/>
                <a:sym typeface="Canva Sans"/>
              </a:rPr>
              <a:t>Predicted by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43934" y="401123"/>
            <a:ext cx="124001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MODULE-2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87679" y="1353623"/>
            <a:ext cx="11712641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50E9B"/>
                </a:solidFill>
                <a:latin typeface="Open Sauce"/>
                <a:ea typeface="Open Sauce"/>
                <a:cs typeface="Open Sauce"/>
                <a:sym typeface="Open Sauce"/>
              </a:rPr>
              <a:t>Skin Region Retrieval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48089" y="1173918"/>
            <a:ext cx="13007802" cy="121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7"/>
              </a:lnSpc>
            </a:pPr>
            <a:r>
              <a:rPr lang="en-US" b="true" sz="7019">
                <a:solidFill>
                  <a:srgbClr val="050E9B"/>
                </a:solidFill>
                <a:latin typeface="DM Sans Bold"/>
                <a:ea typeface="DM Sans Bold"/>
                <a:cs typeface="DM Sans Bold"/>
                <a:sym typeface="DM Sans Bold"/>
              </a:rPr>
              <a:t>DEPENDENCIES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3689" y="3060351"/>
            <a:ext cx="13535654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OS -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Linux</a:t>
            </a:r>
          </a:p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Language -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C++</a:t>
            </a:r>
          </a:p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Integrated Development Environment (IDE) -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VS code</a:t>
            </a:r>
          </a:p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Version Control System -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Git / Github</a:t>
            </a:r>
          </a:p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Library -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Poppler</a:t>
            </a:r>
          </a:p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50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Dataset: </a:t>
            </a:r>
            <a:r>
              <a:rPr lang="en-US" sz="4000">
                <a:solidFill>
                  <a:srgbClr val="050E9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Human Skin Dataset that will be used to train and test skin detection across diverse skin tones and lighting conditions.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6488" y="3962424"/>
            <a:ext cx="14595024" cy="212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86"/>
              </a:lnSpc>
            </a:pPr>
            <a:r>
              <a:rPr lang="en-US" sz="12418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DAHHYh26cI8</dc:identifier>
  <dcterms:modified xsi:type="dcterms:W3CDTF">2011-08-01T06:04:30Z</dcterms:modified>
  <cp:revision>1</cp:revision>
  <dc:title>ultimate PRESENTATION</dc:title>
</cp:coreProperties>
</file>